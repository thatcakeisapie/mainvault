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5" r:id="rId1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2F4F7"/>
                </a:solidFill>
                <a:latin typeface="Calibri"/>
              </a:rPr>
              <a:t>HEROES Weekly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A8B3C0"/>
                </a:solidFill>
                <a:latin typeface="Calibri"/>
              </a:rPr>
              <a:t>Monday practice · Thursday system · Commitments without shame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A8B3C0"/>
                </a:solidFill>
                <a:latin typeface="Calibri"/>
              </a:rPr>
              <a:t>Call to adventure → skill → duplication → owners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2F4F7"/>
                </a:solidFill>
                <a:latin typeface="Calibri"/>
              </a:rPr>
              <a:t>The names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8B3C0"/>
                </a:solidFill>
                <a:latin typeface="Calibri"/>
              </a:rPr>
              <a:t>Three lanes — don’t mix the rooms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657600" cy="4572000"/>
          </a:xfrm>
          <a:prstGeom prst="roundRect">
            <a:avLst/>
          </a:prstGeom>
          <a:solidFill>
            <a:srgbClr val="1A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32552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8A83E"/>
                </a:solidFill>
                <a:latin typeface="Calibri"/>
              </a:rPr>
              <a:t>HEROES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57400"/>
            <a:ext cx="325526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2F4F7"/>
                </a:solidFill>
                <a:latin typeface="Calibri"/>
              </a:rPr>
              <a:t>•  Lyle’s NM team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2F4F7"/>
                </a:solidFill>
                <a:latin typeface="Calibri"/>
              </a:rPr>
              <a:t>•  Monday practice + dials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2F4F7"/>
                </a:solidFill>
                <a:latin typeface="Calibri"/>
              </a:rPr>
              <a:t>•  Thursday plan / info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2F4F7"/>
                </a:solidFill>
                <a:latin typeface="Calibri"/>
              </a:rPr>
              <a:t>•  Peer coaching culture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2F4F7"/>
                </a:solidFill>
                <a:latin typeface="Calibri"/>
              </a:rPr>
              <a:t>•  Call to adventure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657600" cy="4572000"/>
          </a:xfrm>
          <a:prstGeom prst="roundRect">
            <a:avLst/>
          </a:prstGeom>
          <a:solidFill>
            <a:srgbClr val="1A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600200"/>
            <a:ext cx="32552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8A83E"/>
                </a:solidFill>
                <a:latin typeface="Calibri"/>
              </a:rPr>
              <a:t>SHEEPDOGS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057400"/>
            <a:ext cx="325526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2F4F7"/>
                </a:solidFill>
                <a:latin typeface="Calibri"/>
              </a:rPr>
              <a:t>•  ~1,000 PV personal customers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2F4F7"/>
                </a:solidFill>
                <a:latin typeface="Calibri"/>
              </a:rPr>
              <a:t>•  Serve the flock, not collect heads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2F4F7"/>
                </a:solidFill>
                <a:latin typeface="Calibri"/>
              </a:rPr>
              <a:t>•  Blessing beyond yourself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2F4F7"/>
                </a:solidFill>
                <a:latin typeface="Calibri"/>
              </a:rPr>
              <a:t>•  Customer-oar qualifier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2F4F7"/>
                </a:solidFill>
                <a:latin typeface="Calibri"/>
              </a:rPr>
              <a:t>•  Inside Heroes track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566160" cy="4572000"/>
          </a:xfrm>
          <a:prstGeom prst="roundRect">
            <a:avLst/>
          </a:prstGeom>
          <a:solidFill>
            <a:srgbClr val="1A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600200"/>
            <a:ext cx="31638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8A83E"/>
                </a:solidFill>
                <a:latin typeface="Calibri"/>
              </a:rPr>
              <a:t>STEWARDS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057400"/>
            <a:ext cx="316382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2F4F7"/>
                </a:solidFill>
                <a:latin typeface="Calibri"/>
              </a:rPr>
              <a:t>•  Faleth ownership track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2F4F7"/>
                </a:solidFill>
                <a:latin typeface="Calibri"/>
              </a:rPr>
              <a:t>•  Still run NM somewhere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2F4F7"/>
                </a:solidFill>
                <a:latin typeface="Calibri"/>
              </a:rPr>
              <a:t>•  Your org or another company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2F4F7"/>
                </a:solidFill>
                <a:latin typeface="Calibri"/>
              </a:rPr>
              <a:t>•  Separate peer room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2F4F7"/>
                </a:solidFill>
                <a:latin typeface="Calibri"/>
              </a:rPr>
              <a:t>•  No cross-recruiting — customers 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2F4F7"/>
                </a:solidFill>
                <a:latin typeface="Calibri"/>
              </a:rPr>
              <a:t>Why this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8B3C0"/>
                </a:solidFill>
                <a:latin typeface="Calibri"/>
              </a:rPr>
              <a:t>Professionalize the dojo — without leader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F2F4F7"/>
                </a:solidFill>
                <a:latin typeface="Calibri"/>
              </a:rPr>
              <a:t>•  Roleplay removes “what do I say?” fear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2F4F7"/>
                </a:solidFill>
                <a:latin typeface="Calibri"/>
              </a:rPr>
              <a:t>•  Shared dials remove “I’m alone” fear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2F4F7"/>
                </a:solidFill>
                <a:latin typeface="Calibri"/>
              </a:rPr>
              <a:t>•  Peer coaching builds duplication (not platinum-only counsel)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2F4F7"/>
                </a:solidFill>
                <a:latin typeface="Calibri"/>
              </a:rPr>
              <a:t>•  Public commits build ownership — voluntary, no shame theater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2F4F7"/>
                </a:solidFill>
                <a:latin typeface="Calibri"/>
              </a:rPr>
              <a:t>•  If you’re gone, Monday still runs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2F4F7"/>
                </a:solidFill>
                <a:latin typeface="Calibri"/>
              </a:rPr>
              <a:t>Weekly cadence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8B3C0"/>
                </a:solidFill>
                <a:latin typeface="Calibri"/>
              </a:rPr>
              <a:t>Two rooms. Don’t mix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212080" cy="4114800"/>
          </a:xfrm>
          <a:prstGeom prst="roundRect">
            <a:avLst/>
          </a:prstGeom>
          <a:solidFill>
            <a:srgbClr val="1A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8A83E"/>
                </a:solidFill>
                <a:latin typeface="Calibri"/>
              </a:rPr>
              <a:t>MONDAY — Heroes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754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Roleplay warm-up (one skill)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Partner tip + encourage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Shared dial block (core)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Voluntary public commits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Optional silly stake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212080" cy="4114800"/>
          </a:xfrm>
          <a:prstGeom prst="roundRect">
            <a:avLst/>
          </a:prstGeom>
          <a:solidFill>
            <a:srgbClr val="1A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37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8A83E"/>
                </a:solidFill>
                <a:latin typeface="Calibri"/>
              </a:rPr>
              <a:t>THURSDAY — System night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754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Info / plan for prospects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One builder trains one skill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Calendar next step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After guests: scoreboard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No Faleth / income theater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2F4F7"/>
                </a:solidFill>
                <a:latin typeface="Calibri"/>
              </a:rPr>
              <a:t>Monday runbook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8B3C0"/>
                </a:solidFill>
                <a:latin typeface="Calibri"/>
              </a:rPr>
              <a:t>Anyone can facilitate. Start and end on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2F4F7"/>
                </a:solidFill>
                <a:latin typeface="Calibri"/>
              </a:rPr>
              <a:t>•  0:00  Open on time · 1-min posture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4F7"/>
                </a:solidFill>
                <a:latin typeface="Calibri"/>
              </a:rPr>
              <a:t>•  0:05  Last week’s commits — hit / miss / blocked (peers ask first)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4F7"/>
                </a:solidFill>
                <a:latin typeface="Calibri"/>
              </a:rPr>
              <a:t>•  0:12  Roleplay — one skill (invite · soft-qualify · objection · next-step)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4F7"/>
                </a:solidFill>
                <a:latin typeface="Calibri"/>
              </a:rPr>
              <a:t>•  0:35  Partner: one tip + one encourage · swap who leads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4F7"/>
                </a:solidFill>
                <a:latin typeface="Calibri"/>
              </a:rPr>
              <a:t>•  0:40  Shared dial block — lists ready, room dials together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4F7"/>
                </a:solidFill>
                <a:latin typeface="Calibri"/>
              </a:rPr>
              <a:t>•  1:10  Gameplan commits (1–3 leading moves) · optional silly stake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4F7"/>
                </a:solidFill>
                <a:latin typeface="Calibri"/>
              </a:rPr>
              <a:t>•  1:20  Close · remind Thursday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2F4F7"/>
                </a:solidFill>
                <a:latin typeface="Calibri"/>
              </a:rPr>
              <a:t>Roleplay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F2F4F7"/>
                </a:solidFill>
                <a:latin typeface="Calibri"/>
              </a:rPr>
              <a:t>•  One skill focus per week — not a speech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2F4F7"/>
                </a:solidFill>
                <a:latin typeface="Calibri"/>
              </a:rPr>
              <a:t>•  Partners coach partners — platinum isn’t the only mic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2F4F7"/>
                </a:solidFill>
                <a:latin typeface="Calibri"/>
              </a:rPr>
              <a:t>•  Scripts stay LTD-clean (no Faleth bait, no income guarantees)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2F4F7"/>
                </a:solidFill>
                <a:latin typeface="Calibri"/>
              </a:rPr>
              <a:t>•  Watch who coaches and takes awkward reps — culture signal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2F4F7"/>
                </a:solidFill>
                <a:latin typeface="Calibri"/>
              </a:rPr>
              <a:t>•  Practice first, then real dials — rehearsal without the room is incomplete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2F4F7"/>
                </a:solidFill>
                <a:latin typeface="Calibri"/>
              </a:rPr>
              <a:t>Public commits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8B3C0"/>
                </a:solidFill>
                <a:latin typeface="Calibri"/>
              </a:rPr>
              <a:t>Commitment without coercion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212080" cy="4114800"/>
          </a:xfrm>
          <a:prstGeom prst="roundRect">
            <a:avLst/>
          </a:prstGeom>
          <a:solidFill>
            <a:srgbClr val="1A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8A83E"/>
                </a:solidFill>
                <a:latin typeface="Calibri"/>
              </a:rPr>
              <a:t>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754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Voluntary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1–3 leading indicators (conversations, opens, follow-ups booked)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Written where the room can see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Peer check next Monday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Optional silly stake if you miss (coffee, lead warm-up, etc.)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212080" cy="4114800"/>
          </a:xfrm>
          <a:prstGeom prst="roundRect">
            <a:avLst/>
          </a:prstGeom>
          <a:solidFill>
            <a:srgbClr val="1A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37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8A83E"/>
                </a:solidFill>
                <a:latin typeface="Calibri"/>
              </a:rPr>
              <a:t>DON’T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754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Shame or guilt theater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Vague “work hard” goals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Pin / income goals as the weekly commit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Forced participation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Punishment that humiliates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2F4F7"/>
                </a:solidFill>
                <a:latin typeface="Calibri"/>
              </a:rPr>
              <a:t>Thursday runbook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8B3C0"/>
                </a:solidFill>
                <a:latin typeface="Calibri"/>
              </a:rPr>
              <a:t>Prospects get the system. Heroes get the scoreboard after.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F2F4F7"/>
                </a:solidFill>
                <a:latin typeface="Calibri"/>
              </a:rPr>
              <a:t>•  0:00  Welcome · start on time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4F7"/>
                </a:solidFill>
                <a:latin typeface="Calibri"/>
              </a:rPr>
              <a:t>•  0:05  Plan / info session (tool + system — not one hero speech)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4F7"/>
                </a:solidFill>
                <a:latin typeface="Calibri"/>
              </a:rPr>
              <a:t>•  0:35  One growing builder trains one skill (rotate)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4F7"/>
                </a:solidFill>
                <a:latin typeface="Calibri"/>
              </a:rPr>
              <a:t>•  0:50  Q&amp;A · calendar next step for each prospect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4F7"/>
                </a:solidFill>
                <a:latin typeface="Calibri"/>
              </a:rPr>
              <a:t>•  1:00  Guests leave · Heroes scoreboard (pipeline health only)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F2F4F7"/>
                </a:solidFill>
                <a:latin typeface="Calibri"/>
              </a:rPr>
              <a:t>•  Guardrail: no Faleth pitch · no passive-income theater · IDS if earnings appear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2F4F7"/>
                </a:solidFill>
                <a:latin typeface="Calibri"/>
              </a:rPr>
              <a:t>Culture locks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66160" cy="4297680"/>
          </a:xfrm>
          <a:prstGeom prst="roundRect">
            <a:avLst/>
          </a:prstGeom>
          <a:solidFill>
            <a:srgbClr val="1A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8A83E"/>
                </a:solidFill>
                <a:latin typeface="Calibri"/>
              </a:rPr>
              <a:t>Dojo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1089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Peer tips required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Leader sets standard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Room owns the reps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Open exit early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566160" cy="4297680"/>
          </a:xfrm>
          <a:prstGeom prst="roundRect">
            <a:avLst/>
          </a:prstGeom>
          <a:solidFill>
            <a:srgbClr val="1A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5544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8A83E"/>
                </a:solidFill>
                <a:latin typeface="Calibri"/>
              </a:rPr>
              <a:t>Scoreboard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65960"/>
            <a:ext cx="31089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Prospects in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Opens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MG1s booked / run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Follow-ups due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Customers 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71600"/>
            <a:ext cx="3291840" cy="4297680"/>
          </a:xfrm>
          <a:prstGeom prst="roundRect">
            <a:avLst/>
          </a:prstGeom>
          <a:solidFill>
            <a:srgbClr val="1A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55448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8A83E"/>
                </a:solidFill>
                <a:latin typeface="Calibri"/>
              </a:rPr>
              <a:t>Faleth 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965960"/>
            <a:ext cx="28346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Out of MG1 / plan room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Late conversation only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Surplus + agency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2F4F7"/>
                </a:solidFill>
                <a:latin typeface="Calibri"/>
              </a:rPr>
              <a:t>•  Operators &gt; pin-chasers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2F4F7"/>
                </a:solidFill>
                <a:latin typeface="Calibri"/>
              </a:rPr>
              <a:t>Heroes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A8B3C0"/>
                </a:solidFill>
                <a:latin typeface="Calibri"/>
              </a:rPr>
              <a:t>If the room can practice, dial, and commit without you on the mic — you built a dojo, not a dependency.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